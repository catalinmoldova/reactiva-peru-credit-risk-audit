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UbUxuqVo3BZlOgHTsKFCP6oDPN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" name="Google Shape;3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" name="Google Shape;4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0" name="Google Shape;8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8" name="Google Shape;9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1964299" y="1769269"/>
            <a:ext cx="5215402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4500"/>
              <a:buFont typeface="Arial"/>
              <a:buNone/>
            </a:pPr>
            <a:r>
              <a:rPr b="1" i="0" lang="en-US" sz="45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Credit Risk in Peru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1966653" y="2607469"/>
            <a:ext cx="5210620" cy="261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Replicating &amp; Extending Machine Learning Models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2457968" y="3174206"/>
            <a:ext cx="422806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Reactiva Peru Program: 501K SMEs during COVID-19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"/>
          <p:cNvSpPr/>
          <p:nvPr/>
        </p:nvSpPr>
        <p:spPr>
          <a:xfrm>
            <a:off x="609600" y="1249635"/>
            <a:ext cx="7924800" cy="157460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2"/>
          <p:cNvSpPr/>
          <p:nvPr/>
        </p:nvSpPr>
        <p:spPr>
          <a:xfrm>
            <a:off x="609600" y="2824237"/>
            <a:ext cx="7924800" cy="1574602"/>
          </a:xfrm>
          <a:prstGeom prst="rect">
            <a:avLst/>
          </a:prstGeom>
          <a:solidFill>
            <a:srgbClr val="1E293B"/>
          </a:solidFill>
          <a:ln>
            <a:noFill/>
          </a:ln>
          <a:effectLst>
            <a:outerShdw blurRad="152400" rotWithShape="0" algn="bl" dir="5400000" dist="76200">
              <a:srgbClr val="000000">
                <a:alpha val="20000"/>
              </a:srgbClr>
            </a:outerShdw>
          </a:effectLst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2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Problem: Reactiva Peru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2"/>
          <p:cNvSpPr/>
          <p:nvPr/>
        </p:nvSpPr>
        <p:spPr>
          <a:xfrm>
            <a:off x="914400" y="1554435"/>
            <a:ext cx="746150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Government Challenge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914400" y="1906860"/>
            <a:ext cx="7461504" cy="26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COVID-19 emergency financing for 501K SMEs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914400" y="2251249"/>
            <a:ext cx="7461504" cy="26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$57.9B in total loans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914400" y="3129037"/>
            <a:ext cx="7461504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Question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914400" y="3481462"/>
            <a:ext cx="7461504" cy="26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How to predict SME credit risk?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914400" y="3825850"/>
            <a:ext cx="7461504" cy="2681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0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Lasso vs. Ridge Regression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>
            <a:off x="609600" y="1249635"/>
            <a:ext cx="3848100" cy="1772394"/>
          </a:xfrm>
          <a:prstGeom prst="roundRect">
            <a:avLst>
              <a:gd fmla="val 257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4686300" y="1249635"/>
            <a:ext cx="3848100" cy="1772394"/>
          </a:xfrm>
          <a:prstGeom prst="roundRect">
            <a:avLst>
              <a:gd fmla="val 2579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Why This Matters: Global Relevance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876300" y="1478235"/>
            <a:ext cx="34198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Why Lasso &amp; Ridge?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059135" y="1783035"/>
            <a:ext cx="3169965" cy="9341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40"/>
              <a:buFont typeface="Arial"/>
              <a:buChar char="•"/>
            </a:pPr>
            <a:r>
              <a:rPr b="0" i="0" lang="en-US" sz="114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Handle multicollinearity in financial data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40"/>
              <a:buFont typeface="Arial"/>
              <a:buChar char="•"/>
            </a:pPr>
            <a:r>
              <a:rPr b="0" i="0" lang="en-US" sz="114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Lasso: sparse, interpretable coefficients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40"/>
              <a:buFont typeface="Arial"/>
              <a:buChar char="•"/>
            </a:pPr>
            <a:r>
              <a:rPr b="0" i="0" lang="en-US" sz="114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Proven globally (China, Ukraine, SMEs)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3"/>
          <p:cNvSpPr/>
          <p:nvPr/>
        </p:nvSpPr>
        <p:spPr>
          <a:xfrm>
            <a:off x="4953000" y="1478235"/>
            <a:ext cx="34198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The Problem Space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3"/>
          <p:cNvSpPr/>
          <p:nvPr/>
        </p:nvSpPr>
        <p:spPr>
          <a:xfrm>
            <a:off x="4953000" y="1783035"/>
            <a:ext cx="3352800" cy="651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SMEs need rapid credit assessment with calculated risk. Reactiva Peru: $57.9B, 501K companies, government guarantees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>
            <a:off x="609600" y="1249635"/>
            <a:ext cx="2489225" cy="1180058"/>
          </a:xfrm>
          <a:prstGeom prst="roundRect">
            <a:avLst>
              <a:gd fmla="val 3874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3327425" y="1249635"/>
            <a:ext cx="2489225" cy="1180058"/>
          </a:xfrm>
          <a:prstGeom prst="roundRect">
            <a:avLst>
              <a:gd fmla="val 3874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6045250" y="1249635"/>
            <a:ext cx="2489225" cy="1180058"/>
          </a:xfrm>
          <a:prstGeom prst="roundRect">
            <a:avLst>
              <a:gd fmla="val 38744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609600" y="2582094"/>
            <a:ext cx="7924800" cy="938213"/>
          </a:xfrm>
          <a:prstGeom prst="roundRect">
            <a:avLst>
              <a:gd fmla="val 48731" name="adj"/>
            </a:avLst>
          </a:prstGeom>
          <a:solidFill>
            <a:srgbClr val="1E293B"/>
          </a:solidFill>
          <a:ln cap="flat" cmpd="sng" w="19050">
            <a:solidFill>
              <a:srgbClr val="38BDF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Replication: Methodology &amp; Results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792435" y="1432471"/>
            <a:ext cx="2166025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Dataset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792435" y="1713458"/>
            <a:ext cx="212355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501,298 SME loans from Reactiva Peru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792435" y="2094458"/>
            <a:ext cx="2166025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Train/Test: 70/30 split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3510260" y="1432471"/>
            <a:ext cx="2166025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Features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3510260" y="1713458"/>
            <a:ext cx="212355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Economic Sector, Lending Entity, Department, Covered Amount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6228085" y="1432471"/>
            <a:ext cx="2166025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Models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6228085" y="1713458"/>
            <a:ext cx="212355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OLS, Ridge (α optim.), Lasso (α optim.)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782955" y="2829744"/>
            <a:ext cx="757809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Key Result: All Models R² ≈ 0.0823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57250" y="3072631"/>
            <a:ext cx="74295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✓ Replicated original findings | ⚠ Different α values (software differences)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5"/>
          <p:cNvSpPr/>
          <p:nvPr/>
        </p:nvSpPr>
        <p:spPr>
          <a:xfrm>
            <a:off x="609600" y="1249635"/>
            <a:ext cx="7924800" cy="1119188"/>
          </a:xfrm>
          <a:prstGeom prst="roundRect">
            <a:avLst>
              <a:gd fmla="val 40851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09600" y="2521223"/>
            <a:ext cx="7924800" cy="1184002"/>
          </a:xfrm>
          <a:prstGeom prst="roundRect">
            <a:avLst>
              <a:gd fmla="val 38615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🔍 Discovery: Why Different Alpha?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876300" y="1478235"/>
            <a:ext cx="7578090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The Puzzle: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76300" y="1730648"/>
            <a:ext cx="757809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α values differ vastly from paper (Python vs SPSS/MATLAB scaling)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76300" y="1973535"/>
            <a:ext cx="757809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→ Prompted deeper investigation into the model itself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76300" y="2749823"/>
            <a:ext cx="757809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🚨 Critical Finding: Target Leakage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876300" y="3026048"/>
            <a:ext cx="7578090" cy="2172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Risk level is mechanically defined from quartiles of covered amount (a predictor)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876300" y="3319463"/>
            <a:ext cx="7578090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CA5A5"/>
              </a:buClr>
              <a:buSzPts val="1080"/>
              <a:buFont typeface="Arial"/>
              <a:buNone/>
            </a:pPr>
            <a:r>
              <a:rPr b="0" i="1" lang="en-US" sz="1080" u="none" cap="none" strike="noStrike">
                <a:solidFill>
                  <a:srgbClr val="FCA5A5"/>
                </a:solidFill>
                <a:latin typeface="Arial"/>
                <a:ea typeface="Arial"/>
                <a:cs typeface="Arial"/>
                <a:sym typeface="Arial"/>
              </a:rPr>
              <a:t>Fundamental violation: target depends on itself!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/>
          <p:nvPr/>
        </p:nvSpPr>
        <p:spPr>
          <a:xfrm>
            <a:off x="609600" y="1540148"/>
            <a:ext cx="3848100" cy="1033462"/>
          </a:xfrm>
          <a:prstGeom prst="roundRect">
            <a:avLst>
              <a:gd fmla="val 4424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4686300" y="1540148"/>
            <a:ext cx="3848100" cy="847725"/>
          </a:xfrm>
          <a:prstGeom prst="roundRect">
            <a:avLst>
              <a:gd fmla="val 5393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609600" y="2726010"/>
            <a:ext cx="7924800" cy="471488"/>
          </a:xfrm>
          <a:prstGeom prst="roundRect">
            <a:avLst>
              <a:gd fmla="val 9697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🚨 Proof: Target Leakage Evidence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609600" y="1249635"/>
            <a:ext cx="3925062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Coefficient Dominance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62000" y="1692548"/>
            <a:ext cx="3614166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Covered Amount: 1.32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762000" y="1849710"/>
            <a:ext cx="361416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~6× larger than other features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762000" y="2116410"/>
            <a:ext cx="35433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Suggests: target depends almost exclusively on this one predictor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686300" y="1249635"/>
            <a:ext cx="3925062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Kruskal-Wallis Test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876800" y="1692548"/>
            <a:ext cx="3575304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H-statistic: 252,885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876800" y="1849710"/>
            <a:ext cx="3575304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080"/>
              <a:buFont typeface="Arial"/>
              <a:buNone/>
            </a:pPr>
            <a:r>
              <a:rPr b="1" i="0" lang="en-US" sz="108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p-value: &lt; 10⁻³⁰⁰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876800" y="2083073"/>
            <a:ext cx="3575304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Strong multicollinearity confirmed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85800" y="2878410"/>
            <a:ext cx="7772400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FBBF24"/>
                </a:solidFill>
                <a:latin typeface="Arial"/>
                <a:ea typeface="Arial"/>
                <a:cs typeface="Arial"/>
                <a:sym typeface="Arial"/>
              </a:rPr>
              <a:t>Conclusion: Original linear specification is methodologically unsound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7"/>
          <p:cNvSpPr/>
          <p:nvPr/>
        </p:nvSpPr>
        <p:spPr>
          <a:xfrm>
            <a:off x="609600" y="1554435"/>
            <a:ext cx="3627165" cy="732383"/>
          </a:xfrm>
          <a:prstGeom prst="roundRect">
            <a:avLst>
              <a:gd fmla="val 62426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4541565" y="1249635"/>
            <a:ext cx="3992835" cy="1294358"/>
          </a:xfrm>
          <a:prstGeom prst="roundRect">
            <a:avLst>
              <a:gd fmla="val 35323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4724400" y="1713458"/>
            <a:ext cx="2901702" cy="266700"/>
          </a:xfrm>
          <a:prstGeom prst="roundRect">
            <a:avLst>
              <a:gd fmla="val 102857" name="adj"/>
            </a:avLst>
          </a:prstGeom>
          <a:solidFill>
            <a:srgbClr val="22C55E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4724400" y="2094458"/>
            <a:ext cx="108793" cy="266700"/>
          </a:xfrm>
          <a:prstGeom prst="roundRect">
            <a:avLst>
              <a:gd fmla="val 252149" name="adj"/>
            </a:avLst>
          </a:prstGeom>
          <a:solidFill>
            <a:srgbClr val="64748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🎯 Original Research: Non-Linear Solution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609600" y="1249635"/>
            <a:ext cx="3699708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320"/>
              <a:buFont typeface="Arial"/>
              <a:buNone/>
            </a:pPr>
            <a:r>
              <a:rPr b="1" i="0" lang="en-US" sz="13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Random Forest Analysis</a:t>
            </a:r>
            <a:endParaRPr b="0" i="0" sz="13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30535" y="1737271"/>
            <a:ext cx="3287862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6EFAC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6EFAC"/>
                </a:solidFill>
                <a:latin typeface="Arial"/>
                <a:ea typeface="Arial"/>
                <a:cs typeface="Arial"/>
                <a:sym typeface="Arial"/>
              </a:rPr>
              <a:t>R² = 1.00000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830535" y="1951583"/>
            <a:ext cx="3287862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Perfect reconstruction of risk rule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609600" y="2401119"/>
            <a:ext cx="3627165" cy="411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Tree ensembles recover hidden structure that linear models miss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09600" y="2812479"/>
            <a:ext cx="3627165" cy="411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Confirms: target determined almost exclusively by covered amount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4688128" y="1432471"/>
            <a:ext cx="3699708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140"/>
              <a:buFont typeface="Arial"/>
              <a:buNone/>
            </a:pPr>
            <a:r>
              <a:rPr b="1" i="0" lang="en-US" sz="114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Feature Importance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587430" y="1777752"/>
            <a:ext cx="997281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F172A"/>
              </a:buClr>
              <a:buSzPts val="960"/>
              <a:buFont typeface="Arial"/>
              <a:buNone/>
            </a:pPr>
            <a:r>
              <a:rPr b="1" i="0" lang="en-US" sz="960" u="none" cap="none" strike="noStrike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rPr>
              <a:t>Covered Amount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7687794" y="1770608"/>
            <a:ext cx="739896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99.8%</a:t>
            </a:r>
            <a:endParaRPr b="0" i="0" sz="10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4985593" y="2158752"/>
            <a:ext cx="691243" cy="138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960"/>
              <a:buFont typeface="Arial"/>
              <a:buNone/>
            </a:pPr>
            <a:r>
              <a:rPr b="0" i="0" lang="en-US" sz="96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Others 0.2%</a:t>
            </a:r>
            <a:endParaRPr b="0" i="0" sz="9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/>
          <p:nvPr/>
        </p:nvSpPr>
        <p:spPr>
          <a:xfrm>
            <a:off x="609600" y="1249635"/>
            <a:ext cx="3848100" cy="1655787"/>
          </a:xfrm>
          <a:prstGeom prst="roundRect">
            <a:avLst>
              <a:gd fmla="val 2761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4686300" y="1249635"/>
            <a:ext cx="3848100" cy="1655787"/>
          </a:xfrm>
          <a:prstGeom prst="roundRect">
            <a:avLst>
              <a:gd fmla="val 27612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609600" y="609600"/>
            <a:ext cx="8083296" cy="4114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Impact &amp; Future Directions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8"/>
          <p:cNvSpPr/>
          <p:nvPr/>
        </p:nvSpPr>
        <p:spPr>
          <a:xfrm>
            <a:off x="845790" y="1447726"/>
            <a:ext cx="3482096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Critical Finding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8"/>
          <p:cNvSpPr/>
          <p:nvPr/>
        </p:nvSpPr>
        <p:spPr>
          <a:xfrm>
            <a:off x="1028626" y="1738238"/>
            <a:ext cx="3230984" cy="8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80"/>
              <a:buFont typeface="Arial"/>
              <a:buChar char="•"/>
            </a:pPr>
            <a:r>
              <a:rPr b="0" i="0" lang="en-US" sz="108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Original paper flawed by target leakage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80"/>
              <a:buFont typeface="Arial"/>
              <a:buChar char="•"/>
            </a:pPr>
            <a:r>
              <a:rPr lang="en-US" sz="1080">
                <a:solidFill>
                  <a:srgbClr val="F1F5F9"/>
                </a:solidFill>
              </a:rPr>
              <a:t>Validity of linear models unclear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80"/>
              <a:buFont typeface="Arial"/>
              <a:buChar char="•"/>
            </a:pPr>
            <a:r>
              <a:rPr b="0" i="0" lang="en-US" sz="108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Algorithm choice was never the issue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8"/>
          <p:cNvSpPr/>
          <p:nvPr/>
        </p:nvSpPr>
        <p:spPr>
          <a:xfrm>
            <a:off x="4922490" y="1447726"/>
            <a:ext cx="3482096" cy="1762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5105326" y="1738238"/>
            <a:ext cx="3230984" cy="89289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80"/>
              <a:buFont typeface="Arial"/>
              <a:buChar char="•"/>
            </a:pPr>
            <a:r>
              <a:rPr b="0" i="0" lang="en-US" sz="108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Create independent risk indicators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80"/>
              <a:buFont typeface="Arial"/>
              <a:buChar char="•"/>
            </a:pPr>
            <a:r>
              <a:rPr b="0" i="0" lang="en-US" sz="1080" u="none" cap="none" strike="noStrike">
                <a:solidFill>
                  <a:srgbClr val="F1F5F9"/>
                </a:solidFill>
                <a:latin typeface="Arial"/>
                <a:ea typeface="Arial"/>
                <a:cs typeface="Arial"/>
                <a:sym typeface="Arial"/>
              </a:rPr>
              <a:t>Replicate approach in other countries 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1F5F9"/>
              </a:buClr>
              <a:buSzPts val="1080"/>
              <a:buFont typeface="Arial"/>
              <a:buChar char="•"/>
            </a:pPr>
            <a:r>
              <a:rPr lang="en-US" sz="1080">
                <a:solidFill>
                  <a:srgbClr val="F1F5F9"/>
                </a:solidFill>
              </a:rPr>
              <a:t>Email the paper authors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9"/>
          <p:cNvSpPr/>
          <p:nvPr/>
        </p:nvSpPr>
        <p:spPr>
          <a:xfrm>
            <a:off x="3324014" y="1530697"/>
            <a:ext cx="2495897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8BDF8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38BDF8"/>
                </a:solidFill>
                <a:latin typeface="Arial"/>
                <a:ea typeface="Arial"/>
                <a:cs typeface="Arial"/>
                <a:sym typeface="Arial"/>
              </a:rPr>
              <a:t>Thank You!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3913092" y="2307878"/>
            <a:ext cx="1317816" cy="2143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Catalin Botezat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2790724" y="2750790"/>
            <a:ext cx="3562552" cy="166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BD5E1"/>
              </a:buClr>
              <a:buSzPts val="1140"/>
              <a:buFont typeface="Arial"/>
              <a:buNone/>
            </a:pPr>
            <a:r>
              <a:rPr b="0" i="0" lang="en-US" sz="114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Replicating &amp; Extending Geraldo-Campos et al. (2022)</a:t>
            </a:r>
            <a:endParaRPr b="0" i="0" sz="11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3273463" y="3146078"/>
            <a:ext cx="2597075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Machine Learning for Credit Risk in SMEs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4218143" y="3455640"/>
            <a:ext cx="707713" cy="1571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Questions?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2025-12-07T05:30:22Z</dcterms:created>
  <dc:creator>Perplexity</dc:creator>
</cp:coreProperties>
</file>